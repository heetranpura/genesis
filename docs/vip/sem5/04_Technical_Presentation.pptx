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eea3455-9e08-c6df-914e-667c34d67138}">
          <p14:sldIdLst>
            <p14:sldId id="256"/>
            <p14:sldId id="257"/>
          </p14:sldIdLst>
        </p14:section>
        <p14:section name="System" id="{caaf5839-3265-e11f-7e80-62f69503a8a5}">
          <p14:sldIdLst>
            <p14:sldId id="258"/>
            <p14:sldId id="259"/>
            <p14:sldId id="260"/>
            <p14:sldId id="261"/>
            <p14:sldId id="262"/>
          </p14:sldIdLst>
        </p14:section>
        <p14:section name="Results" id="{b5a36aa4-0d35-3a15-5c4d-011f65b4515b}">
          <p14:sldIdLst>
            <p14:sldId id="263"/>
            <p14:sldId id="264"/>
            <p14:sldId id="265"/>
            <p14:sldId id="266"/>
          </p14:sldIdLst>
        </p14:section>
        <p14:section name="Quality" id="{7a32d814-7939-8609-cc35-ce170738d220}">
          <p14:sldIdLst>
            <p14:sldId id="267"/>
            <p14:sldId id="268"/>
            <p14:sldId id="269"/>
          </p14:sldIdLst>
        </p14:section>
        <p14:section name="Next" id="{f4c7ed54-1f49-5b0a-39f4-e7e7053a9ea4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question in one sentence, then show the system and the first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the repository on 27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seeded simulator, interchangeable policies, everything recorded; analysis never feeds back into reward. Diagram: Advik Divekar.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Fusing all per-tick work into one Numba call removed Python dispatch overhead; observations come from an incrementally patched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bench on the MacBook Air M4, medians of repeated runs. Source: reports/stage1/bench.txt.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only renders; simulation stays in the server's sim thread, so watching never changes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 encoder for the 11 x 11 x 16 view, MLP for body signals, GRU or MLP core; PPO with full backpropagation through 128-tick rollouts.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Held-out worlds 0-4 x 2 years x 256 agents; 95% bootstrap CIs in reports/. Replication runs with the unified PPOTrainer, 19.7M agent-steps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Energy-economy probe on validation worlds: intake per agent by season. Source: reports/stage2/energy_economy.json.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Population-level behaviour on test world 0. Source: paper/stats.json.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Aggregation is compared with null models that keep each agent's habitat and place preferences; Advik's blinding ablation zeroes the agents' view of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Coverage: 55% of all lines, 76% of Python-level lines; Numba-compiled kernels run as machine code and cannot be traced.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workflow: four PRs from Advik's fork, reviewed and merged by Heet, with handoff documents after each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is the main scientific risk; R2 is addressed by the three-seed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h2h3 is preregistered and ready; it runs on the M3 Pro.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demo: make demo starts the viewer with the trained GRU learner.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0350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</a:rPr>
              <a:t>GENESIS  |  VIP Design Experience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GENESIS: what we built, and what the agents did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Technical presentation  ·  VIP Design Experience II (Semester V)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Heet Ranpura, Advik Divekar  ·  Mentor: [to fill]</a:t>
            </a:r>
            <a:endParaRPr lang="en-US" sz="1800" dirty="0"/>
          </a:p>
        </p:txBody>
      </p:sp>
      <p:pic>
        <p:nvPicPr>
          <p:cNvPr id="5" name="Image 0" descr="Viewer following one agent with the inspector op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V in numbers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~8,000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lines of Python, plus 2,600 lines of JavaScript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tests, run by CI on every change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112k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 steps/min with observations at 1,000 agents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5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 requests reviewed and merged between sub-teams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3192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World engine (Stages 1, 1.1)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Recurrent PPO learner and memoryless ablation (Stage 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Flight recorder with bit-exact replay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3-D viewer (Stage 5)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Preregistered evaluation, CI, documentation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4" name="Image 0" descr="01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1108" y="1188720"/>
            <a:ext cx="726948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tick is one compiled call</a:t>
            </a:r>
            <a:endParaRPr lang="en-US" sz="3000" dirty="0"/>
          </a:p>
        </p:txBody>
      </p:sp>
      <p:pic>
        <p:nvPicPr>
          <p:cNvPr id="4" name="Image 0" descr="03_world_t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303" y="1188720"/>
            <a:ext cx="10825089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clears the 100k target</a:t>
            </a:r>
            <a:endParaRPr lang="en-US" sz="3000" dirty="0"/>
          </a:p>
        </p:txBody>
      </p:sp>
      <p:pic>
        <p:nvPicPr>
          <p:cNvPr id="4" name="Image 0" descr="v12_through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7675"/>
            <a:ext cx="7040880" cy="50027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863840" y="146304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100k steps/min with observations at 1,000 agents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Measured: 112k (1.87M agent-steps per second)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Incremental observation image and precomputed line of sight were the key changes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Known regression at 512 x 512 (open issue)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3-D viewer</a:t>
            </a:r>
            <a:endParaRPr lang="en-US" sz="3000" dirty="0"/>
          </a:p>
        </p:txBody>
      </p:sp>
      <p:pic>
        <p:nvPicPr>
          <p:cNvPr id="4" name="Image 0" descr="01_day_close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5910"/>
            <a:ext cx="5486400" cy="3086100"/>
          </a:xfrm>
          <a:prstGeom prst="rect">
            <a:avLst/>
          </a:prstGeom>
        </p:spPr>
      </p:pic>
      <p:pic>
        <p:nvPicPr>
          <p:cNvPr id="5" name="Image 1" descr="02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65910"/>
            <a:ext cx="5486400" cy="30861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1663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85-115 fps with 256 agents, 75-90 fps with 1,000 (1600 x 900, M3 Pro)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of 7 live charts, inspector showing each agent's value estimate and action probabilities; every control logged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network, per-agent memory</a:t>
            </a:r>
            <a:endParaRPr lang="en-US" sz="3000" dirty="0"/>
          </a:p>
        </p:txBody>
      </p:sp>
      <p:pic>
        <p:nvPicPr>
          <p:cNvPr id="4" name="Image 0" descr="05_policy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5877"/>
            <a:ext cx="11094415" cy="44377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beat random and greedy, but not yet the heuristic</a:t>
            </a:r>
            <a:endParaRPr lang="en-US" sz="3000" dirty="0"/>
          </a:p>
        </p:txBody>
      </p:sp>
      <p:pic>
        <p:nvPicPr>
          <p:cNvPr id="4" name="Image 0" descr="v13_mort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7675"/>
            <a:ext cx="7040880" cy="50027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863840" y="146304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H1 supported: learners clearly beat random (3.83) and greedy (3.31)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H2 not supported: memoryless 1.50 [1.30, 1.75] and GRU 1.67 [1.45, 1.92] overlap the heuristic 1.50 [1.04, 2.11]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H3 not supported: memory cut thirst deaths but not overall mortality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training seed per arm, so make h2h3 runs three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learners plateau: they never hunt, so winter starves them</a:t>
            </a:r>
            <a:endParaRPr lang="en-US" sz="3000" dirty="0"/>
          </a:p>
        </p:txBody>
      </p:sp>
      <p:pic>
        <p:nvPicPr>
          <p:cNvPr id="4" name="Image 0" descr="v14_energy_by_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7675"/>
            <a:ext cx="7040880" cy="50027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863840" y="146304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Plants alone are below basal metabolism: a grazer eats 3.9 per year against 5.0 basal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Hunting pays: the hunter heuristic eats 5.2 per year and dies far less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Learners eat about twice as much in summer, but under a fifth of the heuristic's intake in winter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 the plateau is a learning problem, not a limit of the world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learners did learn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chance of drinking when parched (0.09 when hydrated)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cells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distance from water (heuristic: 3.6)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14-18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cell home ranges (heuristic: 38): riverside sedentism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463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5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-0.7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estimate vs homeostatic drive (-0.65 / -0.75)</a:t>
            </a:r>
            <a:endParaRPr lang="en-US" sz="1400" dirty="0"/>
          </a:p>
        </p:txBody>
      </p:sp>
      <p:sp>
        <p:nvSpPr>
          <p:cNvPr id="12" name="correction box"/>
          <p:cNvSpPr/>
          <p:nvPr/>
        </p:nvSpPr>
        <p:spPr>
          <a:xfrm>
            <a:off x="548640" y="393192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096512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</a:rPr>
              <a:t>A claim we corrected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Watching one agent in the viewer suggested learners rest at night. The population data showed no night resting, so the claim was corrected in the paper and the logs.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social organisation yet, and we checked carefully</a:t>
            </a:r>
            <a:endParaRPr lang="en-US" sz="3000" dirty="0"/>
          </a:p>
        </p:txBody>
      </p:sp>
      <p:sp>
        <p:nvSpPr>
          <p:cNvPr id="4" name="card 0 group kills"/>
          <p:cNvSpPr/>
          <p:nvPr/>
        </p:nvSpPr>
        <p:spPr>
          <a:xfrm>
            <a:off x="54864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icon circle 0 group kills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0 group k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46504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 group kills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199339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prey need two simultaneous hunters; learners never managed one.</a:t>
            </a:r>
            <a:endParaRPr lang="en-US" sz="1400" dirty="0"/>
          </a:p>
        </p:txBody>
      </p:sp>
      <p:sp>
        <p:nvSpPr>
          <p:cNvPr id="9" name="card &lt; 0.01 food shared"/>
          <p:cNvSpPr/>
          <p:nvPr/>
        </p:nvSpPr>
        <p:spPr>
          <a:xfrm>
            <a:off x="429768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icon circle &lt; 0.01 food shared"/>
          <p:cNvSpPr/>
          <p:nvPr/>
        </p:nvSpPr>
        <p:spPr>
          <a:xfrm>
            <a:off x="4526280" y="1627632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&lt; 0.01 food sha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465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&lt; 0.01 food shared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257800" y="199339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received from others per agent-year: essentially none.</a:t>
            </a:r>
            <a:endParaRPr lang="en-US" sz="1400" dirty="0"/>
          </a:p>
        </p:txBody>
      </p:sp>
      <p:sp>
        <p:nvSpPr>
          <p:cNvPr id="14" name="card Clustering is habitat"/>
          <p:cNvSpPr/>
          <p:nvPr/>
        </p:nvSpPr>
        <p:spPr>
          <a:xfrm>
            <a:off x="804672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icon circle Clustering is habitat"/>
          <p:cNvSpPr/>
          <p:nvPr/>
        </p:nvSpPr>
        <p:spPr>
          <a:xfrm>
            <a:off x="8275320" y="1627632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6" name="Image 2" descr="Clustering is habit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4650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06840" y="15727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Clustering is habitat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9006840" y="199339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Nearest-neighbour ratio 0.84 vs habitat null, but 0.98-1.01 vs place preference; blinding leaves it intact.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20624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H4 (no social behaviour at this stage) holds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ingredients for cooperation exist in the world; the next semester tests which capabilities unlock them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 59 tests, CI on every change</a:t>
            </a:r>
            <a:endParaRPr lang="en-US" sz="3000" dirty="0"/>
          </a:p>
        </p:txBody>
      </p:sp>
      <p:pic>
        <p:nvPicPr>
          <p:cNvPr id="4" name="Image 0" descr="v06_verification_lev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8488"/>
            <a:ext cx="7315200" cy="331254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0" y="1463040"/>
            <a:ext cx="3429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Bit-identical seeded runs catch any unintended change to dynamics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Replay of any recording is exact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Defects found and fixed are logged in the Test &amp; Validation Plan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GitHub Actions runs everything on a clean Linux machine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sub-teams work together</a:t>
            </a:r>
            <a:endParaRPr lang="en-US" sz="3000" dirty="0"/>
          </a:p>
        </p:txBody>
      </p:sp>
      <p:pic>
        <p:nvPicPr>
          <p:cNvPr id="4" name="Image 0" descr="v08_collabo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2146"/>
            <a:ext cx="11094415" cy="46052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we are tracking</a:t>
            </a:r>
            <a:endParaRPr lang="en-US" sz="3000" dirty="0"/>
          </a:p>
        </p:txBody>
      </p:sp>
      <p:pic>
        <p:nvPicPr>
          <p:cNvPr id="4" name="Image 0" descr="v09_risk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88" y="1188720"/>
            <a:ext cx="1023112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settle H2 and H3, then measure social structure</a:t>
            </a:r>
            <a:endParaRPr lang="en-US" sz="3000" dirty="0"/>
          </a:p>
        </p:txBody>
      </p:sp>
      <p:sp>
        <p:nvSpPr>
          <p:cNvPr id="4" name="card Now: make h2h3"/>
          <p:cNvSpPr/>
          <p:nvPr/>
        </p:nvSpPr>
        <p:spPr>
          <a:xfrm>
            <a:off x="548640" y="14630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icon circle Now: make h2h3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Now: make h2h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37944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64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Now: make h2h3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2084832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runs (GRU and memoryless x seeds 1-3) x 3,000 iterations, about 13-16 h on the M3 Pro; verdicts applied automatically.</a:t>
            </a:r>
            <a:endParaRPr lang="en-US" sz="1400" dirty="0"/>
          </a:p>
        </p:txBody>
      </p:sp>
      <p:sp>
        <p:nvSpPr>
          <p:cNvPr id="9" name="card Then: hunting probes"/>
          <p:cNvSpPr/>
          <p:nvPr/>
        </p:nvSpPr>
        <p:spPr>
          <a:xfrm>
            <a:off x="4297680" y="14630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icon circle Then: hunting probes"/>
          <p:cNvSpPr/>
          <p:nvPr/>
        </p:nvSpPr>
        <p:spPr>
          <a:xfrm>
            <a:off x="4526280" y="1719072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Then: hunting pro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83794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1664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Then: hunting probes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257800" y="2084832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hunting an exploration problem? A curriculum and a denser-prey world, each as a separate, labelled configuration.</a:t>
            </a:r>
            <a:endParaRPr lang="en-US" sz="1400" dirty="0"/>
          </a:p>
        </p:txBody>
      </p:sp>
      <p:sp>
        <p:nvSpPr>
          <p:cNvPr id="14" name="card Sem VI: social metrics"/>
          <p:cNvSpPr/>
          <p:nvPr/>
        </p:nvSpPr>
        <p:spPr>
          <a:xfrm>
            <a:off x="8046720" y="14630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icon circle Sem VI: social metrics"/>
          <p:cNvSpPr/>
          <p:nvPr/>
        </p:nvSpPr>
        <p:spPr>
          <a:xfrm>
            <a:off x="8275320" y="1719072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6" name="Image 2" descr="Sem VI: social metr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83794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06840" y="1664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 VI: social metrics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9006840" y="2084832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Co-feeding, food transfer, proximity networks, signalling, each tested on synthetic data first; then the capability experiments.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Repository: github.com/HeetRanpura/Genesis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Live demo: make demo  ·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">
  <a:themeElements>
    <a:clrScheme name="GENESIS">
      <a:dk1>
        <a:srgbClr val="1B1B1A"/>
      </a:dk1>
      <a:lt1>
        <a:srgbClr val="FFFFFF"/>
      </a:lt1>
      <a:dk2>
        <a:srgbClr val="0F2A3D"/>
      </a:dk2>
      <a:lt2>
        <a:srgbClr val="EEF3F7"/>
      </a:lt2>
      <a:accent1>
        <a:srgbClr val="2A78D6"/>
      </a:accent1>
      <a:accent2>
        <a:srgbClr val="EB6834"/>
      </a:accent2>
      <a:accent3>
        <a:srgbClr val="1BAF7A"/>
      </a:accent3>
      <a:accent4>
        <a:srgbClr val="C98500"/>
      </a:accent4>
      <a:accent5>
        <a:srgbClr val="D55181"/>
      </a:accent5>
      <a:accent6>
        <a:srgbClr val="8A8984"/>
      </a:accent6>
      <a:hlink>
        <a:srgbClr val="2A78D6"/>
      </a:hlink>
      <a:folHlink>
        <a:srgbClr val="6D4C9F"/>
      </a:folHlink>
    </a:clrScheme>
    <a:fontScheme name="GENE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MPSTME NMIMS, VIP vertical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GENESIS: technical presentation</dc:title>
  <dc:subject>PptxGenJS Presentation</dc:subject>
  <dc:creator>Heet Ranpura, Advik Divekar</dc:creator>
  <cp:lastModifiedBy>Heet Ranpura, Advik Divekar</cp:lastModifiedBy>
  <cp:revision>1</cp:revision>
  <dcterms:created xsi:type="dcterms:W3CDTF">2026-10-27T15:22:37Z</dcterms:created>
  <dcterms:modified xsi:type="dcterms:W3CDTF">2026-10-27T15:22:37Z</dcterms:modified>
</cp:coreProperties>
</file>