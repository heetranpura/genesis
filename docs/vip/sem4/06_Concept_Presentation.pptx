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a5506c5-f6bb-c5bf-2366-02c491545978}">
          <p14:sldIdLst>
            <p14:sldId id="256"/>
          </p14:sldIdLst>
        </p14:section>
        <p14:section name="Problem" id="{54f8959d-45aa-0fd7-bb35-0535a7487f99}">
          <p14:sldIdLst>
            <p14:sldId id="257"/>
            <p14:sldId id="258"/>
          </p14:sldIdLst>
        </p14:section>
        <p14:section name="Literature" id="{970948f0-b727-5005-f3b9-1b3e909a870f}">
          <p14:sldIdLst>
            <p14:sldId id="259"/>
            <p14:sldId id="260"/>
          </p14:sldIdLst>
        </p14:section>
        <p14:section name="Concept" id="{f898a561-1bd1-ec2d-6ccf-ec96d594b01f}">
          <p14:sldIdLst>
            <p14:sldId id="261"/>
            <p14:sldId id="262"/>
            <p14:sldId id="263"/>
            <p14:sldId id="264"/>
          </p14:sldIdLst>
        </p14:section>
        <p14:section name="Feasibility" id="{394148be-b9c1-2540-b038-ddd9ace35472}">
          <p14:sldIdLst>
            <p14:sldId id="265"/>
            <p14:sldId id="266"/>
          </p14:sldIdLst>
        </p14:section>
        <p14:section name="Plan" id="{c868e107-ec37-eed5-cec2-2e9e5c907f5b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question. GENESIS is a testbed where every agent is paid only for keeping its own body healthy; we measure what social behaviour appears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rewards, prosocial bonuses, influence terms and communication losses all specify the social outcome. That makes it impossible to say whether cooperation emerged. GENESIS removes every social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reasons, one per card. Keep the safety framing concrete: autonomous agents already share markets, roads and the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Positions are our qualitative reading of each paper's reward design and environment, not measurements. All references verified online on 27 Oct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ingredients define the project. Each one maps to a hard rule or a design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rule is enforced in code or tests, not just in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seed gives a different island. Fresh water is only in rivers and lakes, so it is spatially scarce.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 is the reduction in the agent's distance below its set-point, minus a death penalty. Nothing in it refers to other agents.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Owners and interfaces were fixed at concept stage so two people could work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in Stage 1/1.1 and the first learner runs: benchmark on the MacBook Air M4, viewer on the M3 Pro.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Hypotheses are preregistered in docs/PREREGISTRATION.md before the runs that test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Semester IV defines; Semester V builds and validates; Semester VI integrates and publishes.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Mentor and open roles are left for the team to fill; nothing here is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stating the first build milestone and its acceptance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0350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60350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E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984"/>
                </a:solidFill>
              </a:rPr>
              <a:t>GENESIS  |  VIP Design Experience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learning agents build societies when nothing social is rewarded?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</a:rPr>
              <a:t>GENESIS  ·  Concept presentation  ·  VIP Design Experience I (Semester IV)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</a:rPr>
              <a:t>Heet Ranpura, Advik Divekar  ·  Mentor: [to fill]</a:t>
            </a:r>
            <a:endParaRPr lang="en-US" sz="1800" dirty="0"/>
          </a:p>
        </p:txBody>
      </p:sp>
      <p:pic>
        <p:nvPicPr>
          <p:cNvPr id="5" name="Image 0" descr="Live viewer overview of a GENESIS worl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multi-agent AI studies build cooperation into the reward</a:t>
            </a:r>
            <a:endParaRPr lang="en-US" sz="3000" dirty="0"/>
          </a:p>
        </p:txBody>
      </p:sp>
      <p:pic>
        <p:nvPicPr>
          <p:cNvPr id="4" name="Image 0" descr="v01_problem_con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4478"/>
            <a:ext cx="11094415" cy="45005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question matters</a:t>
            </a:r>
            <a:endParaRPr lang="en-US" sz="3000" dirty="0"/>
          </a:p>
        </p:txBody>
      </p:sp>
      <p:sp>
        <p:nvSpPr>
          <p:cNvPr id="4" name="card Multi-agent AI safety"/>
          <p:cNvSpPr/>
          <p:nvPr/>
        </p:nvSpPr>
        <p:spPr>
          <a:xfrm>
            <a:off x="548640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icon circle Multi-agent AI safety"/>
          <p:cNvSpPr/>
          <p:nvPr/>
        </p:nvSpPr>
        <p:spPr>
          <a:xfrm>
            <a:off x="777240" y="1627632"/>
            <a:ext cx="566928" cy="56692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Multi-agent AI safet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46504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5727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Multi-agent AI safety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1993392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Agents from different developers already share markets, roads and the web. Which collective behaviours appear without being designed in?</a:t>
            </a:r>
            <a:endParaRPr lang="en-US" sz="1400" dirty="0"/>
          </a:p>
        </p:txBody>
      </p:sp>
      <p:sp>
        <p:nvSpPr>
          <p:cNvPr id="9" name="card Computational social science"/>
          <p:cNvSpPr/>
          <p:nvPr/>
        </p:nvSpPr>
        <p:spPr>
          <a:xfrm>
            <a:off x="6172200" y="137160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icon circle Computational social science"/>
          <p:cNvSpPr/>
          <p:nvPr/>
        </p:nvSpPr>
        <p:spPr>
          <a:xfrm>
            <a:off x="6400800" y="1627632"/>
            <a:ext cx="566928" cy="56692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11" name="Image 1" descr="Computational social scie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74650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32320" y="15727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Computational social science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132320" y="1993392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Grow societies bottom-up, like Sugarscape, but with learning instead of hand-written rules.</a:t>
            </a:r>
            <a:endParaRPr lang="en-US" sz="1400" dirty="0"/>
          </a:p>
        </p:txBody>
      </p:sp>
      <p:sp>
        <p:nvSpPr>
          <p:cNvPr id="14" name="card Origins of social organisation"/>
          <p:cNvSpPr/>
          <p:nvPr/>
        </p:nvSpPr>
        <p:spPr>
          <a:xfrm>
            <a:off x="54864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icon circle Origins of social organisation"/>
          <p:cNvSpPr/>
          <p:nvPr/>
        </p:nvSpPr>
        <p:spPr>
          <a:xfrm>
            <a:off x="777240" y="4096512"/>
            <a:ext cx="566928" cy="56692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Origins of social organisa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215384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0416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Origins of social organisation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4462272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the order in which structure appears with human prehistory, as a structural analogy only.</a:t>
            </a:r>
            <a:endParaRPr lang="en-US" sz="1400" dirty="0"/>
          </a:p>
        </p:txBody>
      </p:sp>
      <p:sp>
        <p:nvSpPr>
          <p:cNvPr id="19" name="card Trustworthy methods"/>
          <p:cNvSpPr/>
          <p:nvPr/>
        </p:nvSpPr>
        <p:spPr>
          <a:xfrm>
            <a:off x="6172200" y="3840480"/>
            <a:ext cx="5440680" cy="2240280"/>
          </a:xfrm>
          <a:prstGeom prst="roundRect">
            <a:avLst>
              <a:gd name="adj" fmla="val 4898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0" name="icon circle Trustworthy methods"/>
          <p:cNvSpPr/>
          <p:nvPr/>
        </p:nvSpPr>
        <p:spPr>
          <a:xfrm>
            <a:off x="6400800" y="4096512"/>
            <a:ext cx="566928" cy="566928"/>
          </a:xfrm>
          <a:prstGeom prst="ellipse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pic>
        <p:nvPicPr>
          <p:cNvPr id="21" name="Image 3" descr="Trustworthy metho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215384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32320" y="404164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Trustworthy methods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7132320" y="4462272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Preregistration, held-out worlds and baselines answer known reproducibility problems in deep RL.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GENESIS sits among prior work</a:t>
            </a:r>
            <a:endParaRPr lang="en-US" sz="3000" dirty="0"/>
          </a:p>
        </p:txBody>
      </p:sp>
      <p:pic>
        <p:nvPicPr>
          <p:cNvPr id="4" name="Image 0" descr="v11_literatur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91694"/>
            <a:ext cx="6766560" cy="440613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680960" y="1463040"/>
            <a:ext cx="39776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Artificial-life worlds (PolyWorld, Sugarscape) are rich but not learned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Social-dilemma RL uses selfish reward in small, purpose-built games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Cooperation-boosting methods add a social term to the reward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Generative agents get their social behaviour from language models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Gap: survival-only learners in a rich ecology, measured against nulls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four ingredients no prior system combines</a:t>
            </a:r>
            <a:endParaRPr lang="en-US" sz="3000" dirty="0"/>
          </a:p>
        </p:txBody>
      </p:sp>
      <p:sp>
        <p:nvSpPr>
          <p:cNvPr id="4" name="number 1"/>
          <p:cNvSpPr/>
          <p:nvPr/>
        </p:nvSpPr>
        <p:spPr>
          <a:xfrm>
            <a:off x="548640" y="1371600"/>
            <a:ext cx="777240" cy="7772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3533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Own-body reward only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7647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Homeostatic reward (Keramati &amp; Gutkin 2014); no term depends on others</a:t>
            </a:r>
            <a:endParaRPr lang="en-US" sz="1500" dirty="0"/>
          </a:p>
        </p:txBody>
      </p:sp>
      <p:sp>
        <p:nvSpPr>
          <p:cNvPr id="8" name="number 2"/>
          <p:cNvSpPr/>
          <p:nvPr/>
        </p:nvSpPr>
        <p:spPr>
          <a:xfrm>
            <a:off x="548640" y="2606040"/>
            <a:ext cx="777240" cy="7772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5877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An ecology where cooperation could pay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9992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Large prey need two hunters; food can be carried; water is scarce; winters bite</a:t>
            </a:r>
            <a:endParaRPr lang="en-US" sz="1500" dirty="0"/>
          </a:p>
        </p:txBody>
      </p:sp>
      <p:sp>
        <p:nvSpPr>
          <p:cNvPr id="12" name="number 3"/>
          <p:cNvSpPr/>
          <p:nvPr/>
        </p:nvSpPr>
        <p:spPr>
          <a:xfrm>
            <a:off x="548640" y="3840480"/>
            <a:ext cx="777240" cy="7772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840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600200" y="38221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Capabilities switched on one at a time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42336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Memory, communication, reproduction, social learning: all off by default</a:t>
            </a:r>
            <a:endParaRPr lang="en-US" sz="1500" dirty="0"/>
          </a:p>
        </p:txBody>
      </p:sp>
      <p:sp>
        <p:nvSpPr>
          <p:cNvPr id="16" name="number 4"/>
          <p:cNvSpPr/>
          <p:nvPr/>
        </p:nvSpPr>
        <p:spPr>
          <a:xfrm>
            <a:off x="548640" y="5074920"/>
            <a:ext cx="777240" cy="7772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074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505663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Preregistered measurement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4681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Held-out worlds, three baselines, null models, negative results kept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principles we will not break</a:t>
            </a:r>
            <a:endParaRPr lang="en-US" sz="3000" dirty="0"/>
          </a:p>
        </p:txBody>
      </p:sp>
      <p:sp>
        <p:nvSpPr>
          <p:cNvPr id="4" name="rule card 0"/>
          <p:cNvSpPr/>
          <p:nvPr/>
        </p:nvSpPr>
        <p:spPr>
          <a:xfrm>
            <a:off x="548640" y="1554480"/>
            <a:ext cx="2057400" cy="420624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rule icon 0"/>
          <p:cNvSpPr/>
          <p:nvPr/>
        </p:nvSpPr>
        <p:spPr>
          <a:xfrm>
            <a:off x="1152144" y="1874520"/>
            <a:ext cx="850392" cy="850392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Reward = own homeostas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084832"/>
            <a:ext cx="429768" cy="4297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" y="30175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Reward = own homeostasis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4343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Enforced by a unit test</a:t>
            </a:r>
            <a:endParaRPr lang="en-US" sz="1400" dirty="0"/>
          </a:p>
        </p:txBody>
      </p:sp>
      <p:sp>
        <p:nvSpPr>
          <p:cNvPr id="9" name="rule card 1"/>
          <p:cNvSpPr/>
          <p:nvPr/>
        </p:nvSpPr>
        <p:spPr>
          <a:xfrm>
            <a:off x="2788920" y="1554480"/>
            <a:ext cx="2057400" cy="420624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rule icon 1"/>
          <p:cNvSpPr/>
          <p:nvPr/>
        </p:nvSpPr>
        <p:spPr>
          <a:xfrm>
            <a:off x="3392424" y="1874520"/>
            <a:ext cx="850392" cy="850392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Capabilities off by defau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2084832"/>
            <a:ext cx="429768" cy="4297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926080" y="30175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Capabilities off by default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2926080" y="4343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one a config switch</a:t>
            </a:r>
            <a:endParaRPr lang="en-US" sz="1400" dirty="0"/>
          </a:p>
        </p:txBody>
      </p:sp>
      <p:sp>
        <p:nvSpPr>
          <p:cNvPr id="14" name="rule card 2"/>
          <p:cNvSpPr/>
          <p:nvPr/>
        </p:nvSpPr>
        <p:spPr>
          <a:xfrm>
            <a:off x="5029200" y="1554480"/>
            <a:ext cx="2057400" cy="420624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5" name="rule icon 2"/>
          <p:cNvSpPr/>
          <p:nvPr/>
        </p:nvSpPr>
        <p:spPr>
          <a:xfrm>
            <a:off x="5632704" y="1874520"/>
            <a:ext cx="850392" cy="850392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16" name="Image 2" descr="Seeded and reproducib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016" y="2084832"/>
            <a:ext cx="429768" cy="42976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66360" y="30175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Seeded and reproducible</a:t>
            </a:r>
            <a:endParaRPr lang="en-US" sz="1700" dirty="0"/>
          </a:p>
        </p:txBody>
      </p:sp>
      <p:sp>
        <p:nvSpPr>
          <p:cNvPr id="18" name="Text 12"/>
          <p:cNvSpPr txBox="1"/>
          <p:nvPr/>
        </p:nvSpPr>
        <p:spPr>
          <a:xfrm>
            <a:off x="5166360" y="4343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Bit-identical runs, hash RNG</a:t>
            </a:r>
            <a:endParaRPr lang="en-US" sz="1400" dirty="0"/>
          </a:p>
        </p:txBody>
      </p:sp>
      <p:sp>
        <p:nvSpPr>
          <p:cNvPr id="19" name="rule card 3"/>
          <p:cNvSpPr/>
          <p:nvPr/>
        </p:nvSpPr>
        <p:spPr>
          <a:xfrm>
            <a:off x="7269480" y="1554480"/>
            <a:ext cx="2057400" cy="420624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0" name="rule icon 3"/>
          <p:cNvSpPr/>
          <p:nvPr/>
        </p:nvSpPr>
        <p:spPr>
          <a:xfrm>
            <a:off x="7872984" y="1874520"/>
            <a:ext cx="850392" cy="850392"/>
          </a:xfrm>
          <a:prstGeom prst="ellipse">
            <a:avLst/>
          </a:prstGeom>
          <a:solidFill>
            <a:srgbClr val="C98500"/>
          </a:solidFill>
          <a:ln w="12700">
            <a:solidFill>
              <a:srgbClr val="C98500"/>
            </a:solidFill>
            <a:prstDash val="solid"/>
          </a:ln>
        </p:spPr>
      </p:sp>
      <p:pic>
        <p:nvPicPr>
          <p:cNvPr id="21" name="Image 3" descr="No scripted agen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2084832"/>
            <a:ext cx="429768" cy="42976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06640" y="30175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No scripted agents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7406640" y="4343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Animals scripted, agents never</a:t>
            </a:r>
            <a:endParaRPr lang="en-US" sz="1400" dirty="0"/>
          </a:p>
        </p:txBody>
      </p:sp>
      <p:sp>
        <p:nvSpPr>
          <p:cNvPr id="24" name="rule card 4"/>
          <p:cNvSpPr/>
          <p:nvPr/>
        </p:nvSpPr>
        <p:spPr>
          <a:xfrm>
            <a:off x="9509760" y="1554480"/>
            <a:ext cx="2057400" cy="4206240"/>
          </a:xfrm>
          <a:prstGeom prst="roundRect">
            <a:avLst>
              <a:gd name="adj" fmla="val 533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25" name="rule icon 4"/>
          <p:cNvSpPr/>
          <p:nvPr/>
        </p:nvSpPr>
        <p:spPr>
          <a:xfrm>
            <a:off x="10113264" y="1874520"/>
            <a:ext cx="850392" cy="850392"/>
          </a:xfrm>
          <a:prstGeom prst="ellipse">
            <a:avLst/>
          </a:prstGeom>
          <a:solidFill>
            <a:srgbClr val="D55181"/>
          </a:solidFill>
          <a:ln w="12700">
            <a:solidFill>
              <a:srgbClr val="D55181"/>
            </a:solidFill>
            <a:prstDash val="solid"/>
          </a:ln>
        </p:spPr>
      </p:sp>
      <p:pic>
        <p:nvPicPr>
          <p:cNvPr id="26" name="Image 4" descr="Baselines everywhe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576" y="2084832"/>
            <a:ext cx="429768" cy="42976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646920" y="3017520"/>
            <a:ext cx="1783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Baselines everywhere</a:t>
            </a:r>
            <a:endParaRPr lang="en-US" sz="1700" dirty="0"/>
          </a:p>
        </p:txBody>
      </p:sp>
      <p:sp>
        <p:nvSpPr>
          <p:cNvPr id="28" name="Text 20"/>
          <p:cNvSpPr txBox="1"/>
          <p:nvPr/>
        </p:nvSpPr>
        <p:spPr>
          <a:xfrm>
            <a:off x="9646920" y="4343400"/>
            <a:ext cx="1783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Random, greedy, heuristic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world: a seeded, seasonal island ecology</a:t>
            </a:r>
            <a:endParaRPr lang="en-US" sz="3000" dirty="0"/>
          </a:p>
        </p:txBody>
      </p:sp>
      <p:pic>
        <p:nvPicPr>
          <p:cNvPr id="4" name="Image 0" descr="fig1_terrain_see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94098"/>
            <a:ext cx="11094415" cy="31896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7091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256 x 256 cells, ten terrain types, rivers and lakes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Plants, fruit trees, small prey, large prey (need 2 hunters), predators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Animals limited by food, not by caps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217920" y="47091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Day and night, four seasons, rain, fog, droughts, cold snaps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Wildfires, floods and famines, random or triggered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Ocean is salt: fresh water only in rivers and lakes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is paid only for keeping its own body healthy</a:t>
            </a:r>
            <a:endParaRPr lang="en-US" sz="3000" dirty="0"/>
          </a:p>
        </p:txBody>
      </p:sp>
      <p:pic>
        <p:nvPicPr>
          <p:cNvPr id="4" name="Image 0" descr="09_homeostatic_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4478"/>
            <a:ext cx="11094415" cy="45005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concept: five subsystems with clear interfaces</a:t>
            </a:r>
            <a:endParaRPr lang="en-US" sz="3000" dirty="0"/>
          </a:p>
        </p:txBody>
      </p:sp>
      <p:pic>
        <p:nvPicPr>
          <p:cNvPr id="4" name="Image 0" descr="v02_subsys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5149"/>
            <a:ext cx="11094415" cy="491922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on two laptops, without a GPU cluster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A7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112k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23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environment steps per minute with observations, 1,000 agents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B68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h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2423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 train 20M agent-steps of PPO on a laptop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A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 MB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2423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 record every agent for one simulated year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052560" y="15544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551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75-90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24231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frames per second in the live viewer at 1,000 agents</a:t>
            </a:r>
            <a:endParaRPr lang="en-US" sz="1400" dirty="0"/>
          </a:p>
        </p:txBody>
      </p:sp>
      <p:sp>
        <p:nvSpPr>
          <p:cNvPr id="12" name="risk box"/>
          <p:cNvSpPr/>
          <p:nvPr/>
        </p:nvSpPr>
        <p:spPr>
          <a:xfrm>
            <a:off x="548640" y="4023360"/>
            <a:ext cx="11094415" cy="1417320"/>
          </a:xfrm>
          <a:prstGeom prst="roundRect">
            <a:avLst>
              <a:gd name="adj" fmla="val 7742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187952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3D"/>
                </a:solidFill>
              </a:rPr>
              <a:t>Main risk at concept stage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Learners might never discover cooperation, e.g. group hunting. That is still a result: the testbed measures its absence rigorously, against null models.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questions and how each will be answered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242255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B1A"/>
                          </a:solidFill>
                        </a:rPr>
                        <a:t>Question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1B1A"/>
                          </a:solidFill>
                        </a:rPr>
                        <a:t>Measured by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1A"/>
                          </a:solidFill>
                        </a:rPr>
                        <a:t>RQ1  Do survival-only learners outlive hand-written foragers?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1A"/>
                          </a:solidFill>
                        </a:rPr>
                        <a:t>Deaths per agent-year on held-out worlds vs three baselines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1A"/>
                          </a:solidFill>
                        </a:rPr>
                        <a:t>RQ2  Does memory matter when resources leave view?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1A"/>
                          </a:solidFill>
                        </a:rPr>
                        <a:t>GRU vs memoryless: thirst and all-cause deaths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1A"/>
                          </a:solidFill>
                        </a:rPr>
                        <a:t>RQ3  Does social organisation appear without social reward?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1A"/>
                          </a:solidFill>
                        </a:rPr>
                        <a:t>Group hunts, food transfer, aggregation vs null models, blinding ablation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1A"/>
                          </a:solidFill>
                        </a:rPr>
                        <a:t>RQ4  In what order, under which capabilities?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1B1A"/>
                          </a:solidFill>
                        </a:rPr>
                        <a:t>Capability switches; cited human timeline as analogy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8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Three-semester roadmap</a:t>
            </a:r>
            <a:endParaRPr lang="en-US" sz="3000" dirty="0"/>
          </a:p>
        </p:txBody>
      </p:sp>
      <p:pic>
        <p:nvPicPr>
          <p:cNvPr id="4" name="Image 0" descr="v04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88" y="1188720"/>
            <a:ext cx="10231120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and roles in the VIP vertical</a:t>
            </a:r>
            <a:endParaRPr lang="en-US" sz="3000" dirty="0"/>
          </a:p>
        </p:txBody>
      </p:sp>
      <p:pic>
        <p:nvPicPr>
          <p:cNvPr id="4" name="Image 0" descr="v03_team_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68" y="1188720"/>
            <a:ext cx="10424160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build the world engine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</a:rPr>
              <a:t>Stage 1: seeded world, ecology, physiology, baselines, tests and benchmarks.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9D6E2"/>
                </a:solidFill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NESIS">
  <a:themeElements>
    <a:clrScheme name="GENESIS">
      <a:dk1>
        <a:srgbClr val="1B1B1A"/>
      </a:dk1>
      <a:lt1>
        <a:srgbClr val="FFFFFF"/>
      </a:lt1>
      <a:dk2>
        <a:srgbClr val="0F2A3D"/>
      </a:dk2>
      <a:lt2>
        <a:srgbClr val="EEF3F7"/>
      </a:lt2>
      <a:accent1>
        <a:srgbClr val="2A78D6"/>
      </a:accent1>
      <a:accent2>
        <a:srgbClr val="EB6834"/>
      </a:accent2>
      <a:accent3>
        <a:srgbClr val="1BAF7A"/>
      </a:accent3>
      <a:accent4>
        <a:srgbClr val="C98500"/>
      </a:accent4>
      <a:accent5>
        <a:srgbClr val="D55181"/>
      </a:accent5>
      <a:accent6>
        <a:srgbClr val="8A8984"/>
      </a:accent6>
      <a:hlink>
        <a:srgbClr val="2A78D6"/>
      </a:hlink>
      <a:folHlink>
        <a:srgbClr val="6D4C9F"/>
      </a:folHlink>
    </a:clrScheme>
    <a:fontScheme name="GENES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MPSTME NMIMS, VIP vertical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GENESIS: concept presentation</dc:title>
  <dc:subject>PptxGenJS Presentation</dc:subject>
  <dc:creator>Heet Ranpura, Advik Divekar</dc:creator>
  <cp:lastModifiedBy>Heet Ranpura, Advik Divekar</cp:lastModifiedBy>
  <cp:revision>1</cp:revision>
  <dcterms:created xsi:type="dcterms:W3CDTF">2026-10-27T15:22:36Z</dcterms:created>
  <dcterms:modified xsi:type="dcterms:W3CDTF">2026-10-27T15:22:36Z</dcterms:modified>
</cp:coreProperties>
</file>